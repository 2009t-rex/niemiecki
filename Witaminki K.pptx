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62" r:id="rId5"/>
    <p:sldId id="261" r:id="rId6"/>
    <p:sldId id="266" r:id="rId7"/>
    <p:sldId id="269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75654-ECF9-AA67-B6D1-7458C86F2373}" v="118" dt="2026-02-23T18:43:30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23.02.2026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l.wikipedia.org/wiki/Witamina_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pl-PL" sz="5400">
                <a:solidFill>
                  <a:schemeClr val="accent2"/>
                </a:solidFill>
              </a:rPr>
              <a:t>Witamina K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000">
                <a:solidFill>
                  <a:srgbClr val="A733FF"/>
                </a:solidFill>
              </a:rPr>
              <a:t>Zapraszam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11AD7FA9-20A0-56B3-E221-E126A911B862}"/>
              </a:ext>
            </a:extLst>
          </p:cNvPr>
          <p:cNvSpPr txBox="1"/>
          <p:nvPr/>
        </p:nvSpPr>
        <p:spPr>
          <a:xfrm>
            <a:off x="360066" y="548472"/>
            <a:ext cx="1095270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Do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witamin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K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zaliczane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są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dwa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naturalne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związki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rozpuszczalne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w </a:t>
            </a:r>
            <a:r>
              <a:rPr lang="en-US" sz="40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tłuszczach</a:t>
            </a:r>
            <a:r>
              <a:rPr lang="en-US" sz="40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:</a:t>
            </a:r>
            <a:endParaRPr lang="en-US" sz="4000">
              <a:solidFill>
                <a:schemeClr val="accent2"/>
              </a:solidFill>
              <a:latin typeface="Comic Sans MS"/>
            </a:endParaRPr>
          </a:p>
          <a:p>
            <a:pPr algn="ctr"/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63FF751-286F-AA6E-F608-E9EAFE3CE1EC}"/>
              </a:ext>
            </a:extLst>
          </p:cNvPr>
          <p:cNvSpPr txBox="1"/>
          <p:nvPr/>
        </p:nvSpPr>
        <p:spPr>
          <a:xfrm>
            <a:off x="594527" y="3713703"/>
            <a:ext cx="230274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witamina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K1 (</a:t>
            </a:r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filochinon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)</a:t>
            </a:r>
            <a:endParaRPr lang="en-US" sz="2800">
              <a:solidFill>
                <a:schemeClr val="accent2"/>
              </a:solidFill>
              <a:latin typeface="Comic Sans MS"/>
            </a:endParaRPr>
          </a:p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0D9CD08-41AF-3A94-EBDC-711050E072A6}"/>
              </a:ext>
            </a:extLst>
          </p:cNvPr>
          <p:cNvSpPr txBox="1"/>
          <p:nvPr/>
        </p:nvSpPr>
        <p:spPr>
          <a:xfrm>
            <a:off x="4747846" y="3713702"/>
            <a:ext cx="6372329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witamina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K2 (</a:t>
            </a:r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menachinon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) – </a:t>
            </a:r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wytwarzana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przez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bakterie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 </a:t>
            </a:r>
            <a:r>
              <a:rPr lang="en-US" sz="2800" dirty="0" err="1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jelitowe</a:t>
            </a:r>
            <a:r>
              <a:rPr lang="en-US" sz="2800" dirty="0">
                <a:solidFill>
                  <a:schemeClr val="accent2"/>
                </a:solidFill>
                <a:latin typeface="Comic Sans MS"/>
                <a:ea typeface="gg sans"/>
                <a:cs typeface="gg sans"/>
              </a:rPr>
              <a:t>.</a:t>
            </a:r>
            <a:r>
              <a:rPr lang="en-US" sz="2800" dirty="0">
                <a:latin typeface="Comic Sans MS"/>
                <a:ea typeface="gg sans"/>
                <a:cs typeface="gg sans"/>
              </a:rPr>
              <a:t> </a:t>
            </a:r>
            <a:endParaRPr lang="en-US" sz="2800" dirty="0">
              <a:latin typeface="Comic Sans MS"/>
            </a:endParaRPr>
          </a:p>
          <a:p>
            <a:pPr algn="ctr"/>
            <a:endParaRPr lang="pl-PL"/>
          </a:p>
        </p:txBody>
      </p:sp>
      <p:sp>
        <p:nvSpPr>
          <p:cNvPr id="2" name="Strzałka: w dół 1">
            <a:extLst>
              <a:ext uri="{FF2B5EF4-FFF2-40B4-BE49-F238E27FC236}">
                <a16:creationId xmlns:a16="http://schemas.microsoft.com/office/drawing/2014/main" id="{D00C7075-783B-637F-EC14-0725BB0E3517}"/>
              </a:ext>
            </a:extLst>
          </p:cNvPr>
          <p:cNvSpPr/>
          <p:nvPr/>
        </p:nvSpPr>
        <p:spPr>
          <a:xfrm>
            <a:off x="1147187" y="2061627"/>
            <a:ext cx="1192989" cy="1644559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Strzałka: w dół 2">
            <a:extLst>
              <a:ext uri="{FF2B5EF4-FFF2-40B4-BE49-F238E27FC236}">
                <a16:creationId xmlns:a16="http://schemas.microsoft.com/office/drawing/2014/main" id="{8E772A17-832B-2782-8202-CE8823BA9DE0}"/>
              </a:ext>
            </a:extLst>
          </p:cNvPr>
          <p:cNvSpPr/>
          <p:nvPr/>
        </p:nvSpPr>
        <p:spPr>
          <a:xfrm rot="-2460000">
            <a:off x="3946684" y="1990130"/>
            <a:ext cx="1243231" cy="1786911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6297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B6CA6-DBCB-E48B-8216-EF446445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51D3C9C-8C2E-4457-71D5-4E8ED2CA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pl-PL" sz="4000">
                <a:solidFill>
                  <a:schemeClr val="accent2"/>
                </a:solidFill>
                <a:latin typeface="Comic Sans MS"/>
              </a:rPr>
              <a:t>Funkcje: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7631F0-53B0-B54C-83A5-56CA6AF32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5" cy="2454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200">
                <a:solidFill>
                  <a:schemeClr val="accent2"/>
                </a:solidFill>
                <a:latin typeface="Comic Sans MS"/>
                <a:ea typeface="+mn-lt"/>
                <a:cs typeface="+mn-lt"/>
              </a:rPr>
              <a:t>Bierze udział w procesie krzepnięcia krwi i warunkuje prawidłowy przebieg tego procesu. </a:t>
            </a:r>
          </a:p>
          <a:p>
            <a:r>
              <a:rPr lang="pl-PL" sz="2200">
                <a:solidFill>
                  <a:schemeClr val="accent2"/>
                </a:solidFill>
                <a:latin typeface="Comic Sans MS"/>
                <a:ea typeface="+mn-lt"/>
                <a:cs typeface="+mn-lt"/>
              </a:rPr>
              <a:t>Uczestniczy także w metabolizmie układu kostnego.</a:t>
            </a:r>
            <a:endParaRPr lang="pl-PL" sz="2200">
              <a:solidFill>
                <a:schemeClr val="accent2"/>
              </a:solidFill>
              <a:latin typeface="Comic Sans MS"/>
            </a:endParaRPr>
          </a:p>
        </p:txBody>
      </p:sp>
      <p:pic>
        <p:nvPicPr>
          <p:cNvPr id="4" name="Obraz 3" descr="Obraz zawierający czerwony, kwiat, Bordowy, Walentynki&#10;&#10;Zawartość wygenerowana przez AI może być niepoprawna.">
            <a:extLst>
              <a:ext uri="{FF2B5EF4-FFF2-40B4-BE49-F238E27FC236}">
                <a16:creationId xmlns:a16="http://schemas.microsoft.com/office/drawing/2014/main" id="{214C4527-5DE1-D0CD-EB6F-84B14F7F1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094244"/>
            <a:ext cx="5260976" cy="263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8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09C06-C3FD-1300-7A29-95FA54E17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64F06BC-3410-E9D5-492B-6960DED2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pl-PL" sz="4000">
                <a:solidFill>
                  <a:schemeClr val="accent2"/>
                </a:solidFill>
                <a:latin typeface="Comic Sans MS"/>
              </a:rPr>
              <a:t>Skutki niedoboru: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763242-6B7C-573E-18F2-EF08FD70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5" cy="2454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>
                <a:solidFill>
                  <a:schemeClr val="accent2"/>
                </a:solidFill>
                <a:latin typeface="Comic Sans MS"/>
                <a:ea typeface="+mn-lt"/>
                <a:cs typeface="+mn-lt"/>
              </a:rPr>
              <a:t>Zaburzenia krzepnięcia krwi (wydłużony czas gojenia się ran), krwawienia, osteoporoza, zaburzenia pracy jelit, zwiększone ryzyko rozwoju nowotworów. </a:t>
            </a:r>
            <a:endParaRPr lang="pl-PL" sz="2400">
              <a:solidFill>
                <a:schemeClr val="accent2"/>
              </a:solidFill>
              <a:latin typeface="Comic Sans MS"/>
            </a:endParaRPr>
          </a:p>
          <a:p>
            <a:endParaRPr lang="pl-PL" sz="2400" dirty="0">
              <a:solidFill>
                <a:schemeClr val="accent2"/>
              </a:solidFill>
            </a:endParaRPr>
          </a:p>
        </p:txBody>
      </p:sp>
      <p:pic>
        <p:nvPicPr>
          <p:cNvPr id="4" name="Obraz 3" descr="Zaburzenia krzepnięcia krwi to grupa nieprawidłowości, do których zalicza się skazy krwotoczne i powikłania zakrzepowo-zatorowe.">
            <a:extLst>
              <a:ext uri="{FF2B5EF4-FFF2-40B4-BE49-F238E27FC236}">
                <a16:creationId xmlns:a16="http://schemas.microsoft.com/office/drawing/2014/main" id="{F0DDB010-A769-A560-EF4D-16201389A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641326"/>
            <a:ext cx="5260976" cy="201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3C654-F3A5-BA3E-FF7E-1D348885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232B67-EDFF-1FDC-ACC9-1784FE72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6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>
                <a:solidFill>
                  <a:srgbClr val="A733FF"/>
                </a:solidFill>
                <a:latin typeface="Comic Sans MS"/>
              </a:rPr>
              <a:t>Źródła: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19F8FAD-C207-800B-C2DD-82B82E5F2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66" y="1691647"/>
            <a:ext cx="8120743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3200">
                <a:solidFill>
                  <a:srgbClr val="A733FF"/>
                </a:solidFill>
                <a:latin typeface="Comic Sans MS"/>
                <a:ea typeface="+mn-lt"/>
                <a:cs typeface="+mn-lt"/>
              </a:rPr>
              <a:t>Witaminy K występują w wielu produktach spożywczych, takich jak brokuły, selery zwyczajne, rzepa, szpinak, ogórek, mniszek lekarski, sałata, kapusta właściwa, lucerna, morszczyn, ziemniak, awokado, a także w jajkach, jogurcie, serze, wątrobie, oleju sojowym i szafranowym</a:t>
            </a:r>
            <a:endParaRPr lang="pl-PL" sz="3200">
              <a:solidFill>
                <a:srgbClr val="A733FF"/>
              </a:solidFill>
              <a:latin typeface="Comic Sans MS"/>
            </a:endParaRPr>
          </a:p>
          <a:p>
            <a:pPr marL="0" indent="0">
              <a:buNone/>
            </a:pPr>
            <a:r>
              <a:rPr lang="pl-PL" sz="3200">
                <a:solidFill>
                  <a:srgbClr val="A733FF"/>
                </a:solidFill>
                <a:latin typeface="Comic Sans MS"/>
                <a:ea typeface="+mn-lt"/>
                <a:cs typeface="+mn-lt"/>
              </a:rPr>
              <a:t>Jest wytwarzana również przez bakterie jelitowe </a:t>
            </a:r>
            <a:r>
              <a:rPr lang="pl-PL" sz="3200" dirty="0">
                <a:solidFill>
                  <a:srgbClr val="A733FF"/>
                </a:solidFill>
                <a:latin typeface="Comic Sans MS"/>
                <a:ea typeface="+mn-lt"/>
                <a:cs typeface="+mn-lt"/>
              </a:rPr>
              <a:t>żyjące w organizmie człowieka.</a:t>
            </a:r>
            <a:endParaRPr lang="pl-PL" sz="3200">
              <a:solidFill>
                <a:srgbClr val="A733FF"/>
              </a:solidFill>
              <a:latin typeface="Comic Sans MS"/>
            </a:endParaRPr>
          </a:p>
        </p:txBody>
      </p:sp>
      <p:pic>
        <p:nvPicPr>
          <p:cNvPr id="4" name="Obraz 3" descr="Broccoli png transparent background">
            <a:extLst>
              <a:ext uri="{FF2B5EF4-FFF2-40B4-BE49-F238E27FC236}">
                <a16:creationId xmlns:a16="http://schemas.microsoft.com/office/drawing/2014/main" id="{1D18C059-A3BB-DAEB-C48E-CA5C91209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645" y="-222895"/>
            <a:ext cx="3385039" cy="2497330"/>
          </a:xfrm>
          <a:prstGeom prst="rect">
            <a:avLst/>
          </a:prstGeom>
        </p:spPr>
      </p:pic>
      <p:pic>
        <p:nvPicPr>
          <p:cNvPr id="5" name="Obraz 4" descr="Świeży cały i fioletowy rzepa na białym tle. Obrazy Stockowe Royalty Free">
            <a:extLst>
              <a:ext uri="{FF2B5EF4-FFF2-40B4-BE49-F238E27FC236}">
                <a16:creationId xmlns:a16="http://schemas.microsoft.com/office/drawing/2014/main" id="{4462F1FC-9B5C-7CD4-3659-FDC2583B7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60000">
            <a:off x="10288183" y="1752424"/>
            <a:ext cx="2124913" cy="1583663"/>
          </a:xfrm>
          <a:prstGeom prst="rect">
            <a:avLst/>
          </a:prstGeom>
        </p:spPr>
      </p:pic>
      <p:pic>
        <p:nvPicPr>
          <p:cNvPr id="6" name="Obraz 5" descr="Obraz zawierający warzywo, Zielone warzywa liściaste, Warzywa krzyżowe, sałata&#10;&#10;Zawartość wygenerowana przez AI może być niepoprawna.">
            <a:extLst>
              <a:ext uri="{FF2B5EF4-FFF2-40B4-BE49-F238E27FC236}">
                <a16:creationId xmlns:a16="http://schemas.microsoft.com/office/drawing/2014/main" id="{DDF2A604-7797-92F7-4A3E-F4E9A1956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540000">
            <a:off x="8443969" y="2543634"/>
            <a:ext cx="2924061" cy="2193046"/>
          </a:xfrm>
          <a:prstGeom prst="rect">
            <a:avLst/>
          </a:prstGeom>
        </p:spPr>
      </p:pic>
      <p:pic>
        <p:nvPicPr>
          <p:cNvPr id="7" name="Obraz 6" descr="Avocado png fruits">
            <a:extLst>
              <a:ext uri="{FF2B5EF4-FFF2-40B4-BE49-F238E27FC236}">
                <a16:creationId xmlns:a16="http://schemas.microsoft.com/office/drawing/2014/main" id="{356DD6FD-E4DE-4DED-9D01-9F551188A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422" y="4120767"/>
            <a:ext cx="2000939" cy="1710369"/>
          </a:xfrm>
          <a:prstGeom prst="rect">
            <a:avLst/>
          </a:prstGeom>
        </p:spPr>
      </p:pic>
      <p:pic>
        <p:nvPicPr>
          <p:cNvPr id="9" name="Obraz 8" descr="białe jaja kurze, Kura, Jajko, Jajka png i psd">
            <a:extLst>
              <a:ext uri="{FF2B5EF4-FFF2-40B4-BE49-F238E27FC236}">
                <a16:creationId xmlns:a16="http://schemas.microsoft.com/office/drawing/2014/main" id="{724C1160-E455-4D1E-3DDD-1BBF8B0DE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61" y="4689168"/>
            <a:ext cx="1904772" cy="188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7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A6B20A-2426-EFE2-A517-9A02267F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solidFill>
                  <a:schemeClr val="accent2"/>
                </a:solidFill>
              </a:rPr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E54744-65B7-0DD9-0765-BDADA0BE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solidFill>
                  <a:schemeClr val="accent2"/>
                </a:solidFill>
              </a:rPr>
              <a:t>Podręcznik</a:t>
            </a:r>
          </a:p>
          <a:p>
            <a:r>
              <a:rPr lang="pl-PL">
                <a:solidFill>
                  <a:schemeClr val="accent2"/>
                </a:solidFill>
              </a:rPr>
              <a:t>Wikipedia: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dirty="0">
                <a:solidFill>
                  <a:schemeClr val="accent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https://pl.wikipedia.org/wiki/Witamina_K</a:t>
            </a:r>
            <a:endParaRPr lang="pl-PL" dirty="0">
              <a:solidFill>
                <a:schemeClr val="accent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877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E57356-356B-3AB4-CEF8-0D6F38A34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778" y="1810917"/>
            <a:ext cx="9736444" cy="26211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6600" i="1" err="1">
                <a:solidFill>
                  <a:srgbClr val="92D050"/>
                </a:solidFill>
              </a:rPr>
              <a:t>Danke</a:t>
            </a:r>
            <a:br>
              <a:rPr lang="pl-PL" sz="6600" i="1" dirty="0"/>
            </a:br>
            <a:r>
              <a:rPr lang="pl-PL" sz="6600" i="1" err="1">
                <a:solidFill>
                  <a:srgbClr val="00B0F0"/>
                </a:solidFill>
                <a:ea typeface="+mj-lt"/>
                <a:cs typeface="+mj-lt"/>
              </a:rPr>
              <a:t>für</a:t>
            </a:r>
            <a:br>
              <a:rPr lang="pl-PL" sz="6600" i="1" dirty="0">
                <a:ea typeface="+mj-lt"/>
                <a:cs typeface="+mj-lt"/>
              </a:rPr>
            </a:br>
            <a:r>
              <a:rPr lang="pl-PL" sz="6600" i="1" err="1">
                <a:solidFill>
                  <a:srgbClr val="FF0000"/>
                </a:solidFill>
              </a:rPr>
              <a:t>die</a:t>
            </a:r>
            <a:r>
              <a:rPr lang="pl-PL" sz="6600" i="1" dirty="0">
                <a:solidFill>
                  <a:srgbClr val="FF0000"/>
                </a:solidFill>
              </a:rPr>
              <a:t> </a:t>
            </a:r>
            <a:r>
              <a:rPr lang="pl-PL" sz="6600" i="1" err="1">
                <a:solidFill>
                  <a:srgbClr val="7030A0"/>
                </a:solidFill>
              </a:rPr>
              <a:t>Aufmerksamkeit</a:t>
            </a:r>
            <a:r>
              <a:rPr lang="pl-PL" sz="6600" i="1" dirty="0"/>
              <a:t>.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676994-2596-7D77-A5B9-76B17982F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3247538" y="5285342"/>
            <a:ext cx="518999" cy="155812"/>
          </a:xfrm>
        </p:spPr>
        <p:txBody>
          <a:bodyPr>
            <a:normAutofit fontScale="25000" lnSpcReduction="20000"/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599089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7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8" baseType="lpstr">
      <vt:lpstr>Motyw pakietu Office</vt:lpstr>
      <vt:lpstr>Witamina K</vt:lpstr>
      <vt:lpstr>Prezentacja programu PowerPoint</vt:lpstr>
      <vt:lpstr>Funkcje:</vt:lpstr>
      <vt:lpstr>Skutki niedoboru:</vt:lpstr>
      <vt:lpstr>Źródła:</vt:lpstr>
      <vt:lpstr>Bibliografia</vt:lpstr>
      <vt:lpstr>Danke für die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2026-02-10T13:30:58Z</dcterms:created>
  <dcterms:modified xsi:type="dcterms:W3CDTF">2026-02-23T18:52:19Z</dcterms:modified>
</cp:coreProperties>
</file>